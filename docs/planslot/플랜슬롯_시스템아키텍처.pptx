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1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9779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9FB4C7"/>
          </a:solidFill>
          <a:ln w="12700">
            <a:solidFill>
              <a:srgbClr val="9FB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717977"/>
            <a:ext cx="8138160" cy="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01752"/>
            <a:ext cx="4297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플랜슬롯 시스템 아키텍처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2067969" y="1508403"/>
            <a:ext cx="347472" cy="0"/>
          </a:xfrm>
          <a:prstGeom prst="line">
            <a:avLst/>
          </a:prstGeom>
          <a:noFill/>
          <a:ln w="27940">
            <a:solidFill>
              <a:srgbClr val="698AA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4456929" y="2281017"/>
            <a:ext cx="0" cy="298063"/>
          </a:xfrm>
          <a:prstGeom prst="line">
            <a:avLst/>
          </a:prstGeom>
          <a:noFill/>
          <a:ln w="27940">
            <a:solidFill>
              <a:srgbClr val="698AA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2127035" y="5259788"/>
            <a:ext cx="0" cy="329655"/>
          </a:xfrm>
          <a:prstGeom prst="line">
            <a:avLst/>
          </a:prstGeom>
          <a:noFill/>
          <a:ln w="27940">
            <a:solidFill>
              <a:srgbClr val="698AA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1" y="1153565"/>
            <a:ext cx="1307237" cy="72037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C6D4E2"/>
            </a:solidFill>
            <a:prstDash val="solid"/>
          </a:ln>
          <a:effectLst>
            <a:outerShdw blurRad="17780" dist="50800" dir="2700000" algn="bl" rotWithShape="0">
              <a:srgbClr val="D6DEE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" y="1243701"/>
            <a:ext cx="15361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786384" y="1563741"/>
            <a:ext cx="15361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16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</a:t>
            </a:r>
            <a:r>
              <a:rPr lang="ko-KR" altLang="en-US" sz="116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브라우저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2536095" y="808108"/>
            <a:ext cx="4041648" cy="1408537"/>
          </a:xfrm>
          <a:prstGeom prst="roundRect">
            <a:avLst>
              <a:gd name="adj" fmla="val 8219"/>
            </a:avLst>
          </a:prstGeom>
          <a:solidFill>
            <a:srgbClr val="F0F5FA"/>
          </a:solidFill>
          <a:ln w="12700">
            <a:solidFill>
              <a:srgbClr val="B7C9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0687" y="914400"/>
            <a:ext cx="3712464" cy="354832"/>
          </a:xfrm>
          <a:prstGeom prst="rect">
            <a:avLst/>
          </a:prstGeom>
          <a:noFill/>
          <a:ln/>
        </p:spPr>
        <p:txBody>
          <a:bodyPr wrap="square" lIns="254" tIns="254" rIns="254" bIns="254" spcCol="108000" rtlCol="0" anchor="ctr"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1350" b="1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r>
              <a:rPr lang="ko-KR" alt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웹 화면</a:t>
            </a:r>
            <a:endParaRPr lang="en-US" altLang="ko-KR" sz="1350" b="1" dirty="0">
              <a:solidFill>
                <a:srgbClr val="1F293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· CSS · JavaScript </a:t>
            </a:r>
            <a:r>
              <a:rPr lang="ko-KR" alt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사용자 화면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846991" y="1334779"/>
            <a:ext cx="86868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CAD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46991" y="1366309"/>
            <a:ext cx="8686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메인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3980847" y="1334779"/>
            <a:ext cx="86868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CAD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80847" y="1366309"/>
            <a:ext cx="8686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회원·인증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5114703" y="1334779"/>
            <a:ext cx="86868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CAD9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4703" y="1366309"/>
            <a:ext cx="8686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 err="1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r>
              <a:rPr lang="en-US" sz="77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77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2846991" y="1627387"/>
            <a:ext cx="86868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CAD9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46991" y="1658917"/>
            <a:ext cx="8686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en-US" sz="770" dirty="0" err="1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</a:t>
            </a:r>
            <a:r>
              <a:rPr lang="en-US" sz="77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77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3980847" y="1627387"/>
            <a:ext cx="86868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CAD9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80847" y="1658917"/>
            <a:ext cx="8686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캘린더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5114703" y="1627387"/>
            <a:ext cx="86868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CAD9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14703" y="1658917"/>
            <a:ext cx="8686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게시판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2846991" y="1919995"/>
            <a:ext cx="86868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CAD9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46991" y="1951525"/>
            <a:ext cx="8686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알림·설정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3980847" y="1919995"/>
            <a:ext cx="86868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CAD9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80847" y="1951525"/>
            <a:ext cx="8686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</a:t>
            </a:r>
            <a:endParaRPr lang="en-US" sz="770" dirty="0"/>
          </a:p>
        </p:txBody>
      </p:sp>
      <p:sp>
        <p:nvSpPr>
          <p:cNvPr id="34" name="Shape 32"/>
          <p:cNvSpPr/>
          <p:nvPr/>
        </p:nvSpPr>
        <p:spPr>
          <a:xfrm>
            <a:off x="5114703" y="1919995"/>
            <a:ext cx="868680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CAD9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14703" y="1951525"/>
            <a:ext cx="8686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3449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770" dirty="0"/>
          </a:p>
        </p:txBody>
      </p:sp>
      <p:sp>
        <p:nvSpPr>
          <p:cNvPr id="36" name="Text 34"/>
          <p:cNvSpPr/>
          <p:nvPr/>
        </p:nvSpPr>
        <p:spPr>
          <a:xfrm>
            <a:off x="4594089" y="2344189"/>
            <a:ext cx="3196123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8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+ WebSocket      </a:t>
            </a:r>
            <a:r>
              <a:rPr lang="ko-KR" altLang="en-US" sz="8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요청</a:t>
            </a:r>
            <a:r>
              <a:rPr lang="en-US" altLang="ko-KR" sz="8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8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</a:t>
            </a:r>
            <a:r>
              <a:rPr lang="en-US" altLang="ko-KR" sz="8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8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채팅</a:t>
            </a:r>
            <a:r>
              <a:rPr lang="en-US" altLang="ko-KR" sz="8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8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621791" y="2622078"/>
            <a:ext cx="8293607" cy="257700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B7C9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4539" y="2820269"/>
            <a:ext cx="2697480" cy="310896"/>
          </a:xfrm>
          <a:prstGeom prst="roundRect">
            <a:avLst>
              <a:gd name="adj" fmla="val 44118"/>
            </a:avLst>
          </a:prstGeom>
          <a:solidFill>
            <a:srgbClr val="EAF2FA"/>
          </a:solidFill>
          <a:ln w="12700">
            <a:solidFill>
              <a:srgbClr val="CAD9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9131" y="2913967"/>
            <a:ext cx="235915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ko-KR" altLang="en-US" sz="1260" b="1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r>
              <a:rPr lang="ko-KR" altLang="en-US" sz="126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서버 </a:t>
            </a:r>
            <a:r>
              <a:rPr lang="en-US" altLang="ko-KR" sz="126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en-US" sz="126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en-US" sz="1260" dirty="0"/>
          </a:p>
        </p:txBody>
      </p:sp>
      <p:sp>
        <p:nvSpPr>
          <p:cNvPr id="40" name="Text 38"/>
          <p:cNvSpPr/>
          <p:nvPr/>
        </p:nvSpPr>
        <p:spPr>
          <a:xfrm>
            <a:off x="3962915" y="2913967"/>
            <a:ext cx="4023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기능별 Controller · Service · Repository 계층으로 요청 처리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951244" y="3353353"/>
            <a:ext cx="3593592" cy="347472"/>
          </a:xfrm>
          <a:prstGeom prst="roundRect">
            <a:avLst>
              <a:gd name="adj" fmla="val 31579"/>
            </a:avLst>
          </a:prstGeom>
          <a:solidFill>
            <a:srgbClr val="EDF3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548" y="3395867"/>
            <a:ext cx="1234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회원·인증 모듈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2559383" y="3395867"/>
            <a:ext cx="1737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/ 로그인 / JWT / 소셜 로그인</a:t>
            </a:r>
            <a:endParaRPr lang="en-US" sz="770" dirty="0"/>
          </a:p>
        </p:txBody>
      </p:sp>
      <p:sp>
        <p:nvSpPr>
          <p:cNvPr id="44" name="Shape 42"/>
          <p:cNvSpPr/>
          <p:nvPr/>
        </p:nvSpPr>
        <p:spPr>
          <a:xfrm>
            <a:off x="4800394" y="3353353"/>
            <a:ext cx="3743003" cy="347472"/>
          </a:xfrm>
          <a:prstGeom prst="roundRect">
            <a:avLst>
              <a:gd name="adj" fmla="val 31579"/>
            </a:avLst>
          </a:prstGeom>
          <a:solidFill>
            <a:srgbClr val="EBF7F2"/>
          </a:solidFill>
          <a:ln w="12700">
            <a:solidFill>
              <a:srgbClr val="B9DC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46699" y="3395867"/>
            <a:ext cx="1234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캘린더 모듈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6281723" y="3395867"/>
            <a:ext cx="224942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등록·수정·삭제 / </a:t>
            </a:r>
            <a:r>
              <a:rPr lang="en-US" sz="770" dirty="0" err="1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</a:t>
            </a:r>
            <a:r>
              <a:rPr 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여부 </a:t>
            </a:r>
            <a:r>
              <a:rPr lang="en-US" sz="770" dirty="0" err="1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r>
              <a:rPr 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데드라인</a:t>
            </a:r>
            <a:endParaRPr lang="en-US" sz="770" dirty="0"/>
          </a:p>
        </p:txBody>
      </p:sp>
      <p:sp>
        <p:nvSpPr>
          <p:cNvPr id="47" name="Shape 45"/>
          <p:cNvSpPr/>
          <p:nvPr/>
        </p:nvSpPr>
        <p:spPr>
          <a:xfrm>
            <a:off x="951244" y="3828841"/>
            <a:ext cx="3593592" cy="347472"/>
          </a:xfrm>
          <a:prstGeom prst="roundRect">
            <a:avLst>
              <a:gd name="adj" fmla="val 31579"/>
            </a:avLst>
          </a:prstGeom>
          <a:solidFill>
            <a:srgbClr val="F4F0FA"/>
          </a:solidFill>
          <a:ln w="12700">
            <a:solidFill>
              <a:srgbClr val="CFC2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548" y="3871355"/>
            <a:ext cx="1447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이미지 일정 분석 모듈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2559382" y="3871355"/>
            <a:ext cx="1957529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업로드 / 일정 추출 / </a:t>
            </a:r>
            <a:r>
              <a:rPr lang="ko-KR" alt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후 등록</a:t>
            </a:r>
            <a:endParaRPr lang="en-US" sz="770" dirty="0"/>
          </a:p>
        </p:txBody>
      </p:sp>
      <p:sp>
        <p:nvSpPr>
          <p:cNvPr id="50" name="Shape 48"/>
          <p:cNvSpPr/>
          <p:nvPr/>
        </p:nvSpPr>
        <p:spPr>
          <a:xfrm>
            <a:off x="4800394" y="3828841"/>
            <a:ext cx="3743003" cy="347472"/>
          </a:xfrm>
          <a:prstGeom prst="roundRect">
            <a:avLst>
              <a:gd name="adj" fmla="val 31579"/>
            </a:avLst>
          </a:prstGeom>
          <a:solidFill>
            <a:srgbClr val="EAF7FA"/>
          </a:solidFill>
          <a:ln w="12700">
            <a:solidFill>
              <a:srgbClr val="A9D3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46699" y="3871355"/>
            <a:ext cx="1234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캘린더 모듈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6281723" y="3871355"/>
            <a:ext cx="19842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생성 / 참여자 관리 / 가능 시간 추천</a:t>
            </a:r>
            <a:endParaRPr lang="en-US" sz="770" dirty="0"/>
          </a:p>
        </p:txBody>
      </p:sp>
      <p:sp>
        <p:nvSpPr>
          <p:cNvPr id="53" name="Shape 51"/>
          <p:cNvSpPr/>
          <p:nvPr/>
        </p:nvSpPr>
        <p:spPr>
          <a:xfrm>
            <a:off x="951244" y="4304329"/>
            <a:ext cx="3593592" cy="347472"/>
          </a:xfrm>
          <a:prstGeom prst="roundRect">
            <a:avLst>
              <a:gd name="adj" fmla="val 31579"/>
            </a:avLst>
          </a:prstGeom>
          <a:solidFill>
            <a:srgbClr val="FFF4E7"/>
          </a:solidFill>
          <a:ln w="12700">
            <a:solidFill>
              <a:srgbClr val="E7C6A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97548" y="4346843"/>
            <a:ext cx="1234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게시판 모듈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2559383" y="4346843"/>
            <a:ext cx="1737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게시글 / 댓글 / 신청 / 초대 / 신고</a:t>
            </a:r>
            <a:endParaRPr lang="en-US" sz="770" dirty="0"/>
          </a:p>
        </p:txBody>
      </p:sp>
      <p:sp>
        <p:nvSpPr>
          <p:cNvPr id="56" name="Shape 54"/>
          <p:cNvSpPr/>
          <p:nvPr/>
        </p:nvSpPr>
        <p:spPr>
          <a:xfrm>
            <a:off x="4800394" y="4304329"/>
            <a:ext cx="3743003" cy="347472"/>
          </a:xfrm>
          <a:prstGeom prst="roundRect">
            <a:avLst>
              <a:gd name="adj" fmla="val 31579"/>
            </a:avLst>
          </a:prstGeom>
          <a:solidFill>
            <a:srgbClr val="F2F6FA"/>
          </a:solidFill>
          <a:ln w="12700">
            <a:solidFill>
              <a:srgbClr val="C6D4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46699" y="4346843"/>
            <a:ext cx="1234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모듈</a:t>
            </a:r>
            <a:endParaRPr lang="en-US" sz="920" dirty="0"/>
          </a:p>
        </p:txBody>
      </p:sp>
      <p:sp>
        <p:nvSpPr>
          <p:cNvPr id="58" name="Text 56"/>
          <p:cNvSpPr/>
          <p:nvPr/>
        </p:nvSpPr>
        <p:spPr>
          <a:xfrm>
            <a:off x="6281723" y="4346843"/>
            <a:ext cx="224942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</a:t>
            </a:r>
            <a:r>
              <a:rPr lang="en-US" altLang="ko-KR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</a:t>
            </a:r>
            <a:r>
              <a:rPr lang="en-US" altLang="ko-KR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</a:t>
            </a:r>
            <a:r>
              <a:rPr lang="en-US" altLang="ko-KR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770" dirty="0" err="1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리마인더</a:t>
            </a:r>
            <a:r>
              <a:rPr lang="ko-KR" alt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알림</a:t>
            </a:r>
            <a:endParaRPr lang="en-US" sz="770" dirty="0"/>
          </a:p>
        </p:txBody>
      </p:sp>
      <p:sp>
        <p:nvSpPr>
          <p:cNvPr id="59" name="Shape 57"/>
          <p:cNvSpPr/>
          <p:nvPr/>
        </p:nvSpPr>
        <p:spPr>
          <a:xfrm>
            <a:off x="4800393" y="4779817"/>
            <a:ext cx="3743003" cy="310896"/>
          </a:xfrm>
          <a:prstGeom prst="roundRect">
            <a:avLst>
              <a:gd name="adj" fmla="val 35294"/>
            </a:avLst>
          </a:prstGeom>
          <a:solidFill>
            <a:srgbClr val="F7F3FA"/>
          </a:solidFill>
          <a:ln w="12700">
            <a:solidFill>
              <a:srgbClr val="D5C3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46698" y="4816393"/>
            <a:ext cx="12344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신고·관리자 모듈</a:t>
            </a:r>
            <a:endParaRPr lang="en-US" sz="920" dirty="0"/>
          </a:p>
        </p:txBody>
      </p:sp>
      <p:sp>
        <p:nvSpPr>
          <p:cNvPr id="61" name="Text 59"/>
          <p:cNvSpPr/>
          <p:nvPr/>
        </p:nvSpPr>
        <p:spPr>
          <a:xfrm>
            <a:off x="6281722" y="4816393"/>
            <a:ext cx="17373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조회 / 처리 / 회원 제재 관리</a:t>
            </a:r>
            <a:endParaRPr lang="en-US" sz="770" dirty="0"/>
          </a:p>
        </p:txBody>
      </p:sp>
      <p:sp>
        <p:nvSpPr>
          <p:cNvPr id="62" name="Shape 60"/>
          <p:cNvSpPr/>
          <p:nvPr/>
        </p:nvSpPr>
        <p:spPr>
          <a:xfrm>
            <a:off x="613479" y="5653250"/>
            <a:ext cx="3017520" cy="621792"/>
          </a:xfrm>
          <a:prstGeom prst="roundRect">
            <a:avLst>
              <a:gd name="adj" fmla="val 17647"/>
            </a:avLst>
          </a:prstGeom>
          <a:solidFill>
            <a:srgbClr val="EDF3FA"/>
          </a:solidFill>
          <a:ln w="12700">
            <a:solidFill>
              <a:srgbClr val="BDD0E2"/>
            </a:solidFill>
            <a:prstDash val="solid"/>
          </a:ln>
          <a:effectLst>
            <a:outerShdw blurRad="17780" dist="50800" dir="2700000" algn="bl" rotWithShape="0">
              <a:srgbClr val="D6DEE8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778071" y="5743380"/>
            <a:ext cx="268833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107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</a:t>
            </a:r>
            <a:endParaRPr lang="en-US" sz="1070" dirty="0"/>
          </a:p>
        </p:txBody>
      </p:sp>
      <p:sp>
        <p:nvSpPr>
          <p:cNvPr id="64" name="Text 62"/>
          <p:cNvSpPr/>
          <p:nvPr/>
        </p:nvSpPr>
        <p:spPr>
          <a:xfrm>
            <a:off x="778071" y="6063420"/>
            <a:ext cx="268833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ko-KR" altLang="en-US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</a:t>
            </a:r>
            <a:r>
              <a:rPr lang="en-US" altLang="ko-KR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</a:t>
            </a:r>
            <a:r>
              <a:rPr lang="en-US" altLang="ko-KR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</a:t>
            </a:r>
            <a:r>
              <a:rPr lang="en-US" altLang="ko-KR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게시판 </a:t>
            </a:r>
            <a:r>
              <a:rPr lang="en-US" altLang="ko-KR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</a:t>
            </a:r>
            <a:r>
              <a:rPr lang="en-US" altLang="ko-KR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</a:t>
            </a:r>
            <a:r>
              <a:rPr lang="en-US" altLang="ko-KR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데이터 저장</a:t>
            </a:r>
            <a:endParaRPr lang="en-US" sz="980" dirty="0"/>
          </a:p>
        </p:txBody>
      </p:sp>
      <p:sp>
        <p:nvSpPr>
          <p:cNvPr id="65" name="Shape 63"/>
          <p:cNvSpPr/>
          <p:nvPr/>
        </p:nvSpPr>
        <p:spPr>
          <a:xfrm>
            <a:off x="3892140" y="5653250"/>
            <a:ext cx="2685603" cy="621792"/>
          </a:xfrm>
          <a:prstGeom prst="roundRect">
            <a:avLst>
              <a:gd name="adj" fmla="val 17647"/>
            </a:avLst>
          </a:prstGeom>
          <a:solidFill>
            <a:srgbClr val="ECF7F2"/>
          </a:solidFill>
          <a:ln w="12700">
            <a:solidFill>
              <a:srgbClr val="AFD9C3"/>
            </a:solidFill>
            <a:prstDash val="solid"/>
          </a:ln>
          <a:effectLst>
            <a:outerShdw blurRad="17780" dist="50800" dir="2700000" algn="bl" rotWithShape="0">
              <a:srgbClr val="D6DEE8">
                <a:alpha val="2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044495" y="5743380"/>
            <a:ext cx="19751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07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이미지 저장소</a:t>
            </a:r>
            <a:endParaRPr lang="en-US" sz="1070" dirty="0"/>
          </a:p>
        </p:txBody>
      </p:sp>
      <p:sp>
        <p:nvSpPr>
          <p:cNvPr id="67" name="Text 65"/>
          <p:cNvSpPr/>
          <p:nvPr/>
        </p:nvSpPr>
        <p:spPr>
          <a:xfrm>
            <a:off x="4044494" y="6063419"/>
            <a:ext cx="2685603" cy="1645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ko-KR" altLang="en-US" sz="70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게시글 이미지 저장 </a:t>
            </a:r>
            <a:r>
              <a:rPr lang="en-US" altLang="ko-KR" sz="70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</a:t>
            </a:r>
            <a:r>
              <a:rPr lang="ko-KR" altLang="en-US" sz="70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분석용 이미지는 임시 저장 후 파기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819049" y="5653250"/>
            <a:ext cx="2431823" cy="621792"/>
          </a:xfrm>
          <a:prstGeom prst="roundRect">
            <a:avLst>
              <a:gd name="adj" fmla="val 17647"/>
            </a:avLst>
          </a:prstGeom>
          <a:solidFill>
            <a:srgbClr val="F5F1FA"/>
          </a:solidFill>
          <a:ln w="12700">
            <a:solidFill>
              <a:srgbClr val="D1C1EA"/>
            </a:solidFill>
            <a:prstDash val="solid"/>
          </a:ln>
          <a:effectLst>
            <a:outerShdw blurRad="17780" dist="50800" dir="2700000" algn="bl" rotWithShape="0">
              <a:srgbClr val="D6DEE8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9" name="Text 67"/>
          <p:cNvSpPr/>
          <p:nvPr/>
        </p:nvSpPr>
        <p:spPr>
          <a:xfrm>
            <a:off x="6977703" y="5743380"/>
            <a:ext cx="27980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07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연동 서비스</a:t>
            </a:r>
            <a:endParaRPr lang="en-US" sz="1070" dirty="0"/>
          </a:p>
        </p:txBody>
      </p:sp>
      <p:sp>
        <p:nvSpPr>
          <p:cNvPr id="70" name="Text 68"/>
          <p:cNvSpPr/>
          <p:nvPr/>
        </p:nvSpPr>
        <p:spPr>
          <a:xfrm>
            <a:off x="6977703" y="6063420"/>
            <a:ext cx="279806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ko-KR" altLang="en-US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소셜 로그인 </a:t>
            </a:r>
            <a:r>
              <a:rPr lang="en-US" altLang="ko-KR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캘린더 연동 </a:t>
            </a:r>
            <a:r>
              <a:rPr lang="en-US" altLang="ko-KR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</a:t>
            </a:r>
            <a:r>
              <a:rPr lang="ko-KR" altLang="en-US" sz="98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분석</a:t>
            </a:r>
            <a:endParaRPr lang="en-US" sz="980" dirty="0"/>
          </a:p>
        </p:txBody>
      </p:sp>
      <p:sp>
        <p:nvSpPr>
          <p:cNvPr id="72" name="Shape 70"/>
          <p:cNvSpPr/>
          <p:nvPr/>
        </p:nvSpPr>
        <p:spPr>
          <a:xfrm>
            <a:off x="9345009" y="804671"/>
            <a:ext cx="2542032" cy="4394411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C7D6E4"/>
            </a:solidFill>
            <a:prstDash val="solid"/>
          </a:ln>
          <a:effectLst>
            <a:outerShdw blurRad="17780" dist="50800" dir="2700000" algn="bl" rotWithShape="0">
              <a:srgbClr val="D6DEE8">
                <a:alpha val="2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725730" y="976623"/>
            <a:ext cx="1891503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</a:rPr>
              <a:t>주요 기능 처리 흐름</a:t>
            </a:r>
            <a:endParaRPr lang="en-US" sz="135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72FE23F-169C-4DF5-8101-E7EC1EE22CD5}"/>
              </a:ext>
            </a:extLst>
          </p:cNvPr>
          <p:cNvGrpSpPr/>
          <p:nvPr/>
        </p:nvGrpSpPr>
        <p:grpSpPr>
          <a:xfrm>
            <a:off x="9573609" y="1574907"/>
            <a:ext cx="2011680" cy="328348"/>
            <a:chOff x="9573609" y="1426463"/>
            <a:chExt cx="2011680" cy="328348"/>
          </a:xfrm>
        </p:grpSpPr>
        <p:sp>
          <p:nvSpPr>
            <p:cNvPr id="74" name="Shape 72"/>
            <p:cNvSpPr/>
            <p:nvPr/>
          </p:nvSpPr>
          <p:spPr>
            <a:xfrm>
              <a:off x="9573609" y="1444751"/>
              <a:ext cx="274320" cy="274320"/>
            </a:xfrm>
            <a:prstGeom prst="ellipse">
              <a:avLst/>
            </a:prstGeom>
            <a:solidFill>
              <a:srgbClr val="7A9AB8"/>
            </a:solidFill>
            <a:ln w="12700">
              <a:solidFill>
                <a:srgbClr val="7A9AB8"/>
              </a:solidFill>
              <a:prstDash val="solid"/>
            </a:ln>
          </p:spPr>
        </p:sp>
        <p:sp>
          <p:nvSpPr>
            <p:cNvPr id="75" name="Text 73"/>
            <p:cNvSpPr/>
            <p:nvPr/>
          </p:nvSpPr>
          <p:spPr>
            <a:xfrm>
              <a:off x="9573609" y="1498667"/>
              <a:ext cx="27432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8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880" dirty="0"/>
            </a:p>
          </p:txBody>
        </p:sp>
        <p:sp>
          <p:nvSpPr>
            <p:cNvPr id="76" name="Text 74"/>
            <p:cNvSpPr/>
            <p:nvPr/>
          </p:nvSpPr>
          <p:spPr>
            <a:xfrm>
              <a:off x="9985089" y="1426463"/>
              <a:ext cx="1508760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60" b="1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사용자</a:t>
              </a:r>
              <a:r>
                <a:rPr lang="en-US" sz="96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960" b="1" dirty="0" err="1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요청</a:t>
              </a:r>
              <a:endParaRPr lang="en-US" sz="960" dirty="0"/>
            </a:p>
          </p:txBody>
        </p:sp>
        <p:sp>
          <p:nvSpPr>
            <p:cNvPr id="77" name="Text 75"/>
            <p:cNvSpPr/>
            <p:nvPr/>
          </p:nvSpPr>
          <p:spPr>
            <a:xfrm>
              <a:off x="9985089" y="1571931"/>
              <a:ext cx="160020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770">
                  <a:solidFill>
                    <a:srgbClr val="6877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웹 화면에서 기능 요청</a:t>
              </a:r>
              <a:endParaRPr lang="en-US" sz="770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BBF6B73-173E-4486-B2D1-EC58E8C314B0}"/>
              </a:ext>
            </a:extLst>
          </p:cNvPr>
          <p:cNvGrpSpPr/>
          <p:nvPr/>
        </p:nvGrpSpPr>
        <p:grpSpPr>
          <a:xfrm>
            <a:off x="9573609" y="2810323"/>
            <a:ext cx="2011680" cy="328348"/>
            <a:chOff x="9573609" y="2677059"/>
            <a:chExt cx="2011680" cy="328348"/>
          </a:xfrm>
        </p:grpSpPr>
        <p:sp>
          <p:nvSpPr>
            <p:cNvPr id="78" name="Shape 76"/>
            <p:cNvSpPr/>
            <p:nvPr/>
          </p:nvSpPr>
          <p:spPr>
            <a:xfrm>
              <a:off x="9573609" y="2695347"/>
              <a:ext cx="274320" cy="274320"/>
            </a:xfrm>
            <a:prstGeom prst="ellipse">
              <a:avLst/>
            </a:prstGeom>
            <a:solidFill>
              <a:srgbClr val="7990A4"/>
            </a:solidFill>
            <a:ln w="12700">
              <a:solidFill>
                <a:srgbClr val="7990A4"/>
              </a:solidFill>
              <a:prstDash val="solid"/>
            </a:ln>
          </p:spPr>
        </p:sp>
        <p:sp>
          <p:nvSpPr>
            <p:cNvPr id="79" name="Text 77"/>
            <p:cNvSpPr/>
            <p:nvPr/>
          </p:nvSpPr>
          <p:spPr>
            <a:xfrm>
              <a:off x="9573609" y="2749263"/>
              <a:ext cx="27432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8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3</a:t>
              </a:r>
              <a:endParaRPr lang="en-US" sz="880" dirty="0"/>
            </a:p>
          </p:txBody>
        </p:sp>
        <p:sp>
          <p:nvSpPr>
            <p:cNvPr id="80" name="Text 78"/>
            <p:cNvSpPr/>
            <p:nvPr/>
          </p:nvSpPr>
          <p:spPr>
            <a:xfrm>
              <a:off x="9985089" y="2677059"/>
              <a:ext cx="1508760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96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기능별 요청 처리</a:t>
              </a:r>
              <a:endParaRPr lang="en-US" sz="96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9985089" y="2822527"/>
              <a:ext cx="160020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770" dirty="0" err="1">
                  <a:solidFill>
                    <a:srgbClr val="6877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백엔드에서</a:t>
              </a:r>
              <a:r>
                <a:rPr lang="ko-KR" altLang="en-US" sz="770" dirty="0">
                  <a:solidFill>
                    <a:srgbClr val="6877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기능 로직 수행</a:t>
              </a:r>
              <a:endParaRPr lang="en-US" sz="770" dirty="0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302282E6-DE0C-4ACA-B309-F1902647E9D3}"/>
              </a:ext>
            </a:extLst>
          </p:cNvPr>
          <p:cNvGrpSpPr/>
          <p:nvPr/>
        </p:nvGrpSpPr>
        <p:grpSpPr>
          <a:xfrm>
            <a:off x="9573609" y="3428031"/>
            <a:ext cx="2011680" cy="328348"/>
            <a:chOff x="9573609" y="3289707"/>
            <a:chExt cx="2011680" cy="328348"/>
          </a:xfrm>
        </p:grpSpPr>
        <p:sp>
          <p:nvSpPr>
            <p:cNvPr id="82" name="Shape 80"/>
            <p:cNvSpPr/>
            <p:nvPr/>
          </p:nvSpPr>
          <p:spPr>
            <a:xfrm>
              <a:off x="9573609" y="3307995"/>
              <a:ext cx="274320" cy="274320"/>
            </a:xfrm>
            <a:prstGeom prst="ellipse">
              <a:avLst/>
            </a:prstGeom>
            <a:solidFill>
              <a:srgbClr val="6E8CA1"/>
            </a:solidFill>
            <a:ln w="12700">
              <a:solidFill>
                <a:srgbClr val="6E8CA1"/>
              </a:solidFill>
              <a:prstDash val="solid"/>
            </a:ln>
          </p:spPr>
        </p:sp>
        <p:sp>
          <p:nvSpPr>
            <p:cNvPr id="83" name="Text 81"/>
            <p:cNvSpPr/>
            <p:nvPr/>
          </p:nvSpPr>
          <p:spPr>
            <a:xfrm>
              <a:off x="9573609" y="3361911"/>
              <a:ext cx="27432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8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4</a:t>
              </a:r>
              <a:endParaRPr lang="en-US" sz="880" dirty="0"/>
            </a:p>
          </p:txBody>
        </p:sp>
        <p:sp>
          <p:nvSpPr>
            <p:cNvPr id="84" name="Text 82"/>
            <p:cNvSpPr/>
            <p:nvPr/>
          </p:nvSpPr>
          <p:spPr>
            <a:xfrm>
              <a:off x="9985089" y="3289707"/>
              <a:ext cx="1508760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96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데이터 저장</a:t>
              </a:r>
              <a:r>
                <a:rPr lang="en-US" altLang="ko-KR" sz="96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</a:t>
              </a:r>
              <a:r>
                <a:rPr lang="ko-KR" altLang="en-US" sz="96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조회</a:t>
              </a:r>
              <a:endParaRPr lang="en-US" sz="96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9985089" y="3435175"/>
              <a:ext cx="160020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altLang="ko-KR" sz="770" dirty="0">
                  <a:solidFill>
                    <a:srgbClr val="6877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MariaDB</a:t>
              </a:r>
              <a:r>
                <a:rPr lang="ko-KR" altLang="en-US" sz="770" dirty="0">
                  <a:solidFill>
                    <a:srgbClr val="6877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에 주요 데이터 저장</a:t>
              </a:r>
              <a:endParaRPr lang="en-US" sz="770" dirty="0"/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8B92006-51E5-4A0D-A5F5-421CFE43A8D4}"/>
              </a:ext>
            </a:extLst>
          </p:cNvPr>
          <p:cNvGrpSpPr/>
          <p:nvPr/>
        </p:nvGrpSpPr>
        <p:grpSpPr>
          <a:xfrm>
            <a:off x="9573609" y="4045739"/>
            <a:ext cx="2043624" cy="328348"/>
            <a:chOff x="9573609" y="3902355"/>
            <a:chExt cx="2043624" cy="328348"/>
          </a:xfrm>
        </p:grpSpPr>
        <p:sp>
          <p:nvSpPr>
            <p:cNvPr id="86" name="Shape 84"/>
            <p:cNvSpPr/>
            <p:nvPr/>
          </p:nvSpPr>
          <p:spPr>
            <a:xfrm>
              <a:off x="9573609" y="3920643"/>
              <a:ext cx="274320" cy="274320"/>
            </a:xfrm>
            <a:prstGeom prst="ellipse">
              <a:avLst/>
            </a:prstGeom>
            <a:solidFill>
              <a:srgbClr val="8494A1"/>
            </a:solidFill>
            <a:ln w="12700">
              <a:solidFill>
                <a:srgbClr val="8494A1"/>
              </a:solidFill>
              <a:prstDash val="solid"/>
            </a:ln>
          </p:spPr>
        </p:sp>
        <p:sp>
          <p:nvSpPr>
            <p:cNvPr id="87" name="Text 85"/>
            <p:cNvSpPr/>
            <p:nvPr/>
          </p:nvSpPr>
          <p:spPr>
            <a:xfrm>
              <a:off x="9573609" y="3974559"/>
              <a:ext cx="27432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8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5</a:t>
              </a:r>
              <a:endParaRPr lang="en-US" sz="880" dirty="0"/>
            </a:p>
          </p:txBody>
        </p:sp>
        <p:sp>
          <p:nvSpPr>
            <p:cNvPr id="88" name="Text 86"/>
            <p:cNvSpPr/>
            <p:nvPr/>
          </p:nvSpPr>
          <p:spPr>
            <a:xfrm>
              <a:off x="9985089" y="3902355"/>
              <a:ext cx="1508760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96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외부 서비스 연동</a:t>
              </a:r>
              <a:endParaRPr lang="en-US" sz="960" dirty="0"/>
            </a:p>
          </p:txBody>
        </p:sp>
        <p:sp>
          <p:nvSpPr>
            <p:cNvPr id="89" name="Text 87"/>
            <p:cNvSpPr/>
            <p:nvPr/>
          </p:nvSpPr>
          <p:spPr>
            <a:xfrm>
              <a:off x="9985089" y="4047823"/>
              <a:ext cx="1632144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fontScale="92500"/>
            </a:bodyPr>
            <a:lstStyle/>
            <a:p>
              <a:pPr marL="0" indent="0" algn="l">
                <a:buNone/>
              </a:pPr>
              <a:r>
                <a:rPr lang="ko-KR" altLang="en-US" sz="770" dirty="0">
                  <a:solidFill>
                    <a:srgbClr val="6877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소셜 로그인 </a:t>
              </a:r>
              <a:r>
                <a:rPr lang="en-US" altLang="ko-KR" sz="770" dirty="0">
                  <a:solidFill>
                    <a:srgbClr val="6877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</a:t>
              </a:r>
              <a:r>
                <a:rPr lang="ko-KR" altLang="en-US" sz="770" dirty="0">
                  <a:solidFill>
                    <a:srgbClr val="6877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구글 캘린더 </a:t>
              </a:r>
              <a:r>
                <a:rPr lang="en-US" altLang="ko-KR" sz="770" dirty="0">
                  <a:solidFill>
                    <a:srgbClr val="6877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AI </a:t>
              </a:r>
              <a:r>
                <a:rPr lang="ko-KR" altLang="en-US" sz="770" dirty="0">
                  <a:solidFill>
                    <a:srgbClr val="6877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분석 연동</a:t>
              </a:r>
              <a:endParaRPr lang="en-US" sz="770" dirty="0"/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9DF06E67-73D6-4454-B93E-7F2115531B8E}"/>
              </a:ext>
            </a:extLst>
          </p:cNvPr>
          <p:cNvGrpSpPr/>
          <p:nvPr/>
        </p:nvGrpSpPr>
        <p:grpSpPr>
          <a:xfrm>
            <a:off x="9573609" y="4663447"/>
            <a:ext cx="2011680" cy="348370"/>
            <a:chOff x="9573609" y="4515003"/>
            <a:chExt cx="2011680" cy="348370"/>
          </a:xfrm>
        </p:grpSpPr>
        <p:sp>
          <p:nvSpPr>
            <p:cNvPr id="90" name="Shape 88"/>
            <p:cNvSpPr/>
            <p:nvPr/>
          </p:nvSpPr>
          <p:spPr>
            <a:xfrm>
              <a:off x="9573609" y="4533291"/>
              <a:ext cx="274320" cy="274320"/>
            </a:xfrm>
            <a:prstGeom prst="ellipse">
              <a:avLst/>
            </a:prstGeom>
            <a:solidFill>
              <a:srgbClr val="9CA7B0"/>
            </a:solidFill>
            <a:ln w="12700">
              <a:solidFill>
                <a:srgbClr val="9CA7B0"/>
              </a:solidFill>
              <a:prstDash val="solid"/>
            </a:ln>
          </p:spPr>
        </p:sp>
        <p:sp>
          <p:nvSpPr>
            <p:cNvPr id="91" name="Text 89"/>
            <p:cNvSpPr/>
            <p:nvPr/>
          </p:nvSpPr>
          <p:spPr>
            <a:xfrm>
              <a:off x="9573609" y="4587207"/>
              <a:ext cx="27432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8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</a:rPr>
                <a:t>6</a:t>
              </a:r>
              <a:endParaRPr lang="en-US" sz="880" dirty="0"/>
            </a:p>
          </p:txBody>
        </p:sp>
        <p:sp>
          <p:nvSpPr>
            <p:cNvPr id="92" name="Text 90"/>
            <p:cNvSpPr/>
            <p:nvPr/>
          </p:nvSpPr>
          <p:spPr>
            <a:xfrm>
              <a:off x="9985089" y="4515003"/>
              <a:ext cx="1508760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96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결과 반환</a:t>
              </a:r>
              <a:r>
                <a:rPr lang="en-US" altLang="ko-KR" sz="96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</a:t>
              </a:r>
              <a:r>
                <a:rPr lang="ko-KR" altLang="en-US" sz="96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알림 처리</a:t>
              </a:r>
              <a:endParaRPr lang="en-US" sz="960" dirty="0"/>
            </a:p>
          </p:txBody>
        </p:sp>
        <p:sp>
          <p:nvSpPr>
            <p:cNvPr id="93" name="Text 91"/>
            <p:cNvSpPr/>
            <p:nvPr/>
          </p:nvSpPr>
          <p:spPr>
            <a:xfrm>
              <a:off x="9985089" y="4680493"/>
              <a:ext cx="160020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770" dirty="0">
                  <a:solidFill>
                    <a:srgbClr val="6877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처리 결과 표시 및 알림 저장</a:t>
              </a:r>
              <a:endParaRPr lang="en-US" sz="770" dirty="0"/>
            </a:p>
          </p:txBody>
        </p:sp>
      </p:grpSp>
      <p:sp>
        <p:nvSpPr>
          <p:cNvPr id="94" name="Text 92"/>
          <p:cNvSpPr/>
          <p:nvPr/>
        </p:nvSpPr>
        <p:spPr>
          <a:xfrm>
            <a:off x="548640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범위</a:t>
            </a:r>
            <a:r>
              <a:rPr lang="en-US" altLang="ko-KR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단위 웹 화면 </a:t>
            </a:r>
            <a:r>
              <a:rPr lang="en-US" altLang="ko-KR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Spring Boot </a:t>
            </a:r>
            <a:r>
              <a:rPr lang="ko-KR" altLang="en-US" sz="720" dirty="0" err="1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r>
              <a:rPr lang="ko-KR" altLang="en-US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모듈 </a:t>
            </a:r>
            <a:r>
              <a:rPr lang="en-US" altLang="ko-KR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altLang="ko-KR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r>
              <a:rPr lang="en-US" altLang="ko-KR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</a:t>
            </a:r>
            <a:r>
              <a:rPr lang="en-US" altLang="ko-KR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</a:t>
            </a:r>
            <a:r>
              <a:rPr lang="ko-KR" altLang="en-US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</a:t>
            </a:r>
            <a:endParaRPr lang="en-US" sz="720" dirty="0"/>
          </a:p>
        </p:txBody>
      </p:sp>
      <p:sp>
        <p:nvSpPr>
          <p:cNvPr id="95" name="Text 93"/>
          <p:cNvSpPr/>
          <p:nvPr/>
        </p:nvSpPr>
        <p:spPr>
          <a:xfrm>
            <a:off x="8092440" y="6556248"/>
            <a:ext cx="3611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화면 → </a:t>
            </a:r>
            <a:r>
              <a:rPr lang="ko-KR" altLang="en-US" sz="720" dirty="0" err="1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r>
              <a:rPr lang="ko-KR" altLang="en-US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서버 → 데이터베이스 </a:t>
            </a:r>
            <a:r>
              <a:rPr lang="en-US" altLang="ko-KR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저장소 </a:t>
            </a:r>
            <a:r>
              <a:rPr lang="en-US" altLang="ko-KR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72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연동 서비스</a:t>
            </a:r>
            <a:endParaRPr lang="en-US" sz="720" dirty="0"/>
          </a:p>
        </p:txBody>
      </p:sp>
      <p:sp>
        <p:nvSpPr>
          <p:cNvPr id="96" name="Shape 8">
            <a:extLst>
              <a:ext uri="{FF2B5EF4-FFF2-40B4-BE49-F238E27FC236}">
                <a16:creationId xmlns:a16="http://schemas.microsoft.com/office/drawing/2014/main" id="{86E75728-C110-4E86-9976-3EDA5E030ED5}"/>
              </a:ext>
            </a:extLst>
          </p:cNvPr>
          <p:cNvSpPr/>
          <p:nvPr/>
        </p:nvSpPr>
        <p:spPr>
          <a:xfrm flipH="1">
            <a:off x="5218589" y="5259788"/>
            <a:ext cx="0" cy="329655"/>
          </a:xfrm>
          <a:prstGeom prst="line">
            <a:avLst/>
          </a:prstGeom>
          <a:noFill/>
          <a:ln w="27940">
            <a:solidFill>
              <a:srgbClr val="698AA7"/>
            </a:solidFill>
            <a:prstDash val="solid"/>
            <a:headEnd type="none"/>
            <a:tailEnd type="triangle"/>
          </a:ln>
        </p:spPr>
      </p:sp>
      <p:sp>
        <p:nvSpPr>
          <p:cNvPr id="97" name="Shape 8">
            <a:extLst>
              <a:ext uri="{FF2B5EF4-FFF2-40B4-BE49-F238E27FC236}">
                <a16:creationId xmlns:a16="http://schemas.microsoft.com/office/drawing/2014/main" id="{F0058058-BD74-40E5-96E7-D9B8C3EEE6F7}"/>
              </a:ext>
            </a:extLst>
          </p:cNvPr>
          <p:cNvSpPr/>
          <p:nvPr/>
        </p:nvSpPr>
        <p:spPr>
          <a:xfrm flipH="1">
            <a:off x="8019208" y="5259788"/>
            <a:ext cx="0" cy="329655"/>
          </a:xfrm>
          <a:prstGeom prst="line">
            <a:avLst/>
          </a:prstGeom>
          <a:noFill/>
          <a:ln w="27940">
            <a:solidFill>
              <a:srgbClr val="698AA7"/>
            </a:solidFill>
            <a:prstDash val="solid"/>
            <a:headEnd type="none"/>
            <a:tailEnd type="triangle"/>
          </a:ln>
        </p:spPr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D1963BC-D096-46A0-950B-1F67E6C0B594}"/>
              </a:ext>
            </a:extLst>
          </p:cNvPr>
          <p:cNvGrpSpPr/>
          <p:nvPr/>
        </p:nvGrpSpPr>
        <p:grpSpPr>
          <a:xfrm>
            <a:off x="9573609" y="2192615"/>
            <a:ext cx="2011680" cy="328348"/>
            <a:chOff x="9573609" y="2066354"/>
            <a:chExt cx="2011680" cy="328348"/>
          </a:xfrm>
        </p:grpSpPr>
        <p:sp>
          <p:nvSpPr>
            <p:cNvPr id="99" name="Shape 76">
              <a:extLst>
                <a:ext uri="{FF2B5EF4-FFF2-40B4-BE49-F238E27FC236}">
                  <a16:creationId xmlns:a16="http://schemas.microsoft.com/office/drawing/2014/main" id="{D5842B38-68F5-4EB3-929D-3B3FF764F827}"/>
                </a:ext>
              </a:extLst>
            </p:cNvPr>
            <p:cNvSpPr/>
            <p:nvPr/>
          </p:nvSpPr>
          <p:spPr>
            <a:xfrm>
              <a:off x="9573609" y="2084642"/>
              <a:ext cx="274320" cy="274320"/>
            </a:xfrm>
            <a:prstGeom prst="ellipse">
              <a:avLst/>
            </a:prstGeom>
            <a:solidFill>
              <a:srgbClr val="7990A4"/>
            </a:solidFill>
            <a:ln w="12700">
              <a:solidFill>
                <a:srgbClr val="7990A4"/>
              </a:solidFill>
              <a:prstDash val="solid"/>
            </a:ln>
          </p:spPr>
        </p:sp>
        <p:sp>
          <p:nvSpPr>
            <p:cNvPr id="100" name="Text 77">
              <a:extLst>
                <a:ext uri="{FF2B5EF4-FFF2-40B4-BE49-F238E27FC236}">
                  <a16:creationId xmlns:a16="http://schemas.microsoft.com/office/drawing/2014/main" id="{D347AB75-8CD8-418B-A677-577D397DF02A}"/>
                </a:ext>
              </a:extLst>
            </p:cNvPr>
            <p:cNvSpPr/>
            <p:nvPr/>
          </p:nvSpPr>
          <p:spPr>
            <a:xfrm>
              <a:off x="9573609" y="2138558"/>
              <a:ext cx="27432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88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880" dirty="0"/>
            </a:p>
          </p:txBody>
        </p:sp>
        <p:sp>
          <p:nvSpPr>
            <p:cNvPr id="101" name="Text 78">
              <a:extLst>
                <a:ext uri="{FF2B5EF4-FFF2-40B4-BE49-F238E27FC236}">
                  <a16:creationId xmlns:a16="http://schemas.microsoft.com/office/drawing/2014/main" id="{589478C1-AE7E-4AA9-A922-DD7BCF978946}"/>
                </a:ext>
              </a:extLst>
            </p:cNvPr>
            <p:cNvSpPr/>
            <p:nvPr/>
          </p:nvSpPr>
          <p:spPr>
            <a:xfrm>
              <a:off x="9985089" y="2066354"/>
              <a:ext cx="1508760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96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인증 </a:t>
              </a:r>
              <a:r>
                <a:rPr lang="en-US" altLang="ko-KR" sz="96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</a:t>
              </a:r>
              <a:r>
                <a:rPr lang="ko-KR" altLang="en-US" sz="960" b="1" dirty="0">
                  <a:solidFill>
                    <a:srgbClr val="1F293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권한 확인</a:t>
              </a:r>
              <a:endParaRPr lang="en-US" sz="960" dirty="0"/>
            </a:p>
          </p:txBody>
        </p:sp>
        <p:sp>
          <p:nvSpPr>
            <p:cNvPr id="102" name="Text 79">
              <a:extLst>
                <a:ext uri="{FF2B5EF4-FFF2-40B4-BE49-F238E27FC236}">
                  <a16:creationId xmlns:a16="http://schemas.microsoft.com/office/drawing/2014/main" id="{6874DDB7-7FEF-4CD4-9359-69A0E9BBF0CC}"/>
                </a:ext>
              </a:extLst>
            </p:cNvPr>
            <p:cNvSpPr/>
            <p:nvPr/>
          </p:nvSpPr>
          <p:spPr>
            <a:xfrm>
              <a:off x="9985089" y="2211822"/>
              <a:ext cx="160020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770" dirty="0">
                  <a:solidFill>
                    <a:srgbClr val="6877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로그인 상태와 접근 권한 검증</a:t>
              </a:r>
              <a:endParaRPr lang="en-US" sz="770" dirty="0"/>
            </a:p>
          </p:txBody>
        </p:sp>
      </p:grpSp>
      <p:sp>
        <p:nvSpPr>
          <p:cNvPr id="105" name="Shape 42">
            <a:extLst>
              <a:ext uri="{FF2B5EF4-FFF2-40B4-BE49-F238E27FC236}">
                <a16:creationId xmlns:a16="http://schemas.microsoft.com/office/drawing/2014/main" id="{890E25D7-4653-4FEA-A123-9B64FA1B8DF0}"/>
              </a:ext>
            </a:extLst>
          </p:cNvPr>
          <p:cNvSpPr/>
          <p:nvPr/>
        </p:nvSpPr>
        <p:spPr>
          <a:xfrm>
            <a:off x="951244" y="4778537"/>
            <a:ext cx="3602261" cy="347472"/>
          </a:xfrm>
          <a:prstGeom prst="roundRect">
            <a:avLst>
              <a:gd name="adj" fmla="val 31579"/>
            </a:avLst>
          </a:prstGeom>
          <a:solidFill>
            <a:srgbClr val="EBF7F2"/>
          </a:solidFill>
          <a:ln w="12700">
            <a:solidFill>
              <a:srgbClr val="B9DCC8"/>
            </a:solidFill>
            <a:prstDash val="solid"/>
          </a:ln>
        </p:spPr>
      </p:sp>
      <p:sp>
        <p:nvSpPr>
          <p:cNvPr id="106" name="Text 43">
            <a:extLst>
              <a:ext uri="{FF2B5EF4-FFF2-40B4-BE49-F238E27FC236}">
                <a16:creationId xmlns:a16="http://schemas.microsoft.com/office/drawing/2014/main" id="{DC9D40FD-6717-489C-A7BD-9001093CF914}"/>
              </a:ext>
            </a:extLst>
          </p:cNvPr>
          <p:cNvSpPr/>
          <p:nvPr/>
        </p:nvSpPr>
        <p:spPr>
          <a:xfrm>
            <a:off x="1097549" y="4821051"/>
            <a:ext cx="1081573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92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채팅 모듈</a:t>
            </a:r>
            <a:endParaRPr lang="en-US" sz="920" dirty="0"/>
          </a:p>
        </p:txBody>
      </p:sp>
      <p:sp>
        <p:nvSpPr>
          <p:cNvPr id="107" name="Text 44">
            <a:extLst>
              <a:ext uri="{FF2B5EF4-FFF2-40B4-BE49-F238E27FC236}">
                <a16:creationId xmlns:a16="http://schemas.microsoft.com/office/drawing/2014/main" id="{90D71117-AA05-49AA-BFF8-F885F4F7A6B2}"/>
              </a:ext>
            </a:extLst>
          </p:cNvPr>
          <p:cNvSpPr/>
          <p:nvPr/>
        </p:nvSpPr>
        <p:spPr>
          <a:xfrm>
            <a:off x="2432573" y="4821051"/>
            <a:ext cx="197086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메시지 송수신 </a:t>
            </a:r>
            <a:r>
              <a:rPr lang="en-US" altLang="ko-KR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</a:t>
            </a:r>
            <a:r>
              <a:rPr lang="ko-KR" altLang="en-US" sz="770" dirty="0" err="1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채팅방</a:t>
            </a:r>
            <a:r>
              <a:rPr lang="ko-KR" altLang="en-US" sz="770" dirty="0">
                <a:solidFill>
                  <a:srgbClr val="687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관리</a:t>
            </a:r>
            <a:endParaRPr lang="en-US" sz="7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305</Words>
  <Application>Microsoft Office PowerPoint</Application>
  <PresentationFormat>와이드스크린</PresentationFormat>
  <Paragraphs>61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Malgun Gothic</vt:lpstr>
      <vt:lpstr>Arial</vt:lpstr>
      <vt:lpstr>Office Theme</vt:lpstr>
      <vt:lpstr>PowerPoint 프레젠테이션</vt:lpstr>
    </vt:vector>
  </TitlesOfParts>
  <Company>널모아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플랜슬롯 시스템 아키텍처</dc:title>
  <dc:subject>플랜슬롯 시스템 아키텍처</dc:subject>
  <dc:creator>OpenAI</dc:creator>
  <cp:lastModifiedBy>user</cp:lastModifiedBy>
  <cp:revision>11</cp:revision>
  <dcterms:created xsi:type="dcterms:W3CDTF">2026-07-08T04:46:25Z</dcterms:created>
  <dcterms:modified xsi:type="dcterms:W3CDTF">2026-07-08T06:40:38Z</dcterms:modified>
</cp:coreProperties>
</file>